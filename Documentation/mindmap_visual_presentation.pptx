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8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3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18F60-B6E3-D2B8-9A5D-F0BF6509E15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561513" y="63500"/>
            <a:ext cx="2595562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TUNI Luottamuksellinen - Confidential (3Y)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731520"/>
            <a:ext cx="110032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/>
          <p:cNvSpPr/>
          <p:nvPr/>
        </p:nvSpPr>
        <p:spPr>
          <a:xfrm>
            <a:off x="594360" y="731520"/>
            <a:ext cx="164592" cy="53949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53889" y="910362"/>
            <a:ext cx="5118452" cy="5037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2200">
                <a:solidFill>
                  <a:srgbClr val="475569"/>
                </a:solidFill>
              </a:defRPr>
            </a:pPr>
            <a:endParaRPr lang="en-US" sz="3200" b="1" noProof="0" dirty="0"/>
          </a:p>
          <a:p>
            <a:pPr algn="ctr">
              <a:spcBef>
                <a:spcPts val="800"/>
              </a:spcBef>
              <a:defRPr sz="2200">
                <a:solidFill>
                  <a:srgbClr val="475569"/>
                </a:solidFill>
              </a:defRPr>
            </a:pPr>
            <a:r>
              <a:rPr lang="en-US" sz="3200" b="1" noProof="0" dirty="0"/>
              <a:t>Mind Map</a:t>
            </a:r>
          </a:p>
          <a:p>
            <a:pPr algn="ctr">
              <a:spcBef>
                <a:spcPts val="800"/>
              </a:spcBef>
              <a:defRPr sz="2200">
                <a:solidFill>
                  <a:srgbClr val="475569"/>
                </a:solidFill>
              </a:defRPr>
            </a:pPr>
            <a:r>
              <a:rPr lang="en-US" b="1" noProof="0" dirty="0"/>
              <a:t>Automated Educational Concept Mapping</a:t>
            </a:r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endParaRPr lang="en-US" noProof="0" dirty="0"/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endParaRPr lang="en-US" noProof="0" dirty="0"/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rPr lang="en-US" noProof="0" dirty="0"/>
              <a:t>Jaakko Rajala</a:t>
            </a:r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rPr lang="en-US" noProof="0" dirty="0"/>
              <a:t>Samith Binda Pantho</a:t>
            </a:r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endParaRPr lang="en-US" noProof="0" dirty="0"/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endParaRPr lang="en-US" noProof="0" dirty="0"/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rPr lang="en-US" noProof="0" dirty="0"/>
              <a:t>COMP.CS.530-2025-2026-2</a:t>
            </a:r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rPr lang="en-US" noProof="0" dirty="0"/>
              <a:t>Tampere University</a:t>
            </a:r>
          </a:p>
          <a:p>
            <a:pPr algn="r">
              <a:spcBef>
                <a:spcPts val="800"/>
              </a:spcBef>
              <a:defRPr sz="1800">
                <a:solidFill>
                  <a:srgbClr val="475569"/>
                </a:solidFill>
              </a:defRPr>
            </a:pPr>
            <a:r>
              <a:rPr lang="en-US" noProof="0" dirty="0"/>
              <a:t>23 March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6142" y="1682496"/>
            <a:ext cx="5120640" cy="10058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454742" y="190195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200" b="1" noProof="0" dirty="0">
                <a:solidFill>
                  <a:srgbClr val="FFFFFF"/>
                </a:solidFill>
              </a:rPr>
              <a:t>▣  AI 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142" y="3099816"/>
            <a:ext cx="5120640" cy="10058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54742" y="331927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200" b="1" noProof="0" dirty="0">
                <a:solidFill>
                  <a:srgbClr val="FFFFFF"/>
                </a:solidFill>
              </a:rPr>
              <a:t>●  Semantic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142" y="4517135"/>
            <a:ext cx="5120640" cy="10058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54742" y="4736592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200" b="1" noProof="0" dirty="0">
                <a:solidFill>
                  <a:srgbClr val="FFFFFF"/>
                </a:solidFill>
              </a:rPr>
              <a:t>▲  Fast Feedback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59752-4FBB-E21D-C75E-7FB71D64E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noProof="0" dirty="0"/>
              <a:t>Problem &amp; Solution</a:t>
            </a:r>
            <a:endParaRPr lang="en-US" sz="5400" noProof="0" dirty="0"/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26" name="Picture 2" descr="Problem solving - Free business and finance icons">
            <a:extLst>
              <a:ext uri="{FF2B5EF4-FFF2-40B4-BE49-F238E27FC236}">
                <a16:creationId xmlns:a16="http://schemas.microsoft.com/office/drawing/2014/main" id="{6B04FB21-6642-6690-ACF5-BCCFC121E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" r="2123" b="-3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568C26A-DC1D-F0B5-B290-C6547E55EC71}"/>
              </a:ext>
            </a:extLst>
          </p:cNvPr>
          <p:cNvSpPr/>
          <p:nvPr/>
        </p:nvSpPr>
        <p:spPr>
          <a:xfrm>
            <a:off x="577645" y="1986118"/>
            <a:ext cx="587231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7203A7-E200-F1B7-4F9A-6165B55AE34F}"/>
              </a:ext>
            </a:extLst>
          </p:cNvPr>
          <p:cNvSpPr/>
          <p:nvPr/>
        </p:nvSpPr>
        <p:spPr>
          <a:xfrm>
            <a:off x="577645" y="1986118"/>
            <a:ext cx="16459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ADD7B8-D596-0DD5-E48D-0EC69642EC4C}"/>
              </a:ext>
            </a:extLst>
          </p:cNvPr>
          <p:cNvSpPr/>
          <p:nvPr/>
        </p:nvSpPr>
        <p:spPr>
          <a:xfrm>
            <a:off x="897685" y="226043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D72A8-91D4-1D47-EA93-069FE05C7D3C}"/>
              </a:ext>
            </a:extLst>
          </p:cNvPr>
          <p:cNvSpPr txBox="1"/>
          <p:nvPr/>
        </p:nvSpPr>
        <p:spPr>
          <a:xfrm>
            <a:off x="897685" y="2324446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BB54D-D9D1-BDB1-C45F-CA3ACE8D6813}"/>
              </a:ext>
            </a:extLst>
          </p:cNvPr>
          <p:cNvSpPr txBox="1"/>
          <p:nvPr/>
        </p:nvSpPr>
        <p:spPr>
          <a:xfrm>
            <a:off x="1492044" y="2187286"/>
            <a:ext cx="47022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Problem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Manual mind map evaluation is slow, subjective, and hard to scale.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3299284-3F92-3F7A-015E-D36160DDEE1E}"/>
              </a:ext>
            </a:extLst>
          </p:cNvPr>
          <p:cNvSpPr/>
          <p:nvPr/>
        </p:nvSpPr>
        <p:spPr>
          <a:xfrm>
            <a:off x="577645" y="3586318"/>
            <a:ext cx="587231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238509-4EBF-AF2A-9554-F5CE55090A72}"/>
              </a:ext>
            </a:extLst>
          </p:cNvPr>
          <p:cNvSpPr/>
          <p:nvPr/>
        </p:nvSpPr>
        <p:spPr>
          <a:xfrm>
            <a:off x="577645" y="3586318"/>
            <a:ext cx="16459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D513115-1B70-5611-8D14-B08DC9DA58C9}"/>
              </a:ext>
            </a:extLst>
          </p:cNvPr>
          <p:cNvSpPr/>
          <p:nvPr/>
        </p:nvSpPr>
        <p:spPr>
          <a:xfrm>
            <a:off x="897685" y="3860638"/>
            <a:ext cx="512064" cy="51206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CBA238-CDEB-DDB7-7AA2-43D7866D4C4B}"/>
              </a:ext>
            </a:extLst>
          </p:cNvPr>
          <p:cNvSpPr txBox="1"/>
          <p:nvPr/>
        </p:nvSpPr>
        <p:spPr>
          <a:xfrm>
            <a:off x="897685" y="3924646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8B88E2-2C48-1C27-3359-804967820406}"/>
              </a:ext>
            </a:extLst>
          </p:cNvPr>
          <p:cNvSpPr txBox="1"/>
          <p:nvPr/>
        </p:nvSpPr>
        <p:spPr>
          <a:xfrm>
            <a:off x="1492045" y="3787486"/>
            <a:ext cx="470227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Why it matters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Students wait too long for feedback while instructors face heavy grading load.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0FF2B3C-546C-8DE2-C080-C476932EBDD4}"/>
              </a:ext>
            </a:extLst>
          </p:cNvPr>
          <p:cNvSpPr/>
          <p:nvPr/>
        </p:nvSpPr>
        <p:spPr>
          <a:xfrm>
            <a:off x="577645" y="5186518"/>
            <a:ext cx="5872316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2F6EE3-80C2-6699-4D98-17A4156A2B49}"/>
              </a:ext>
            </a:extLst>
          </p:cNvPr>
          <p:cNvSpPr/>
          <p:nvPr/>
        </p:nvSpPr>
        <p:spPr>
          <a:xfrm>
            <a:off x="577645" y="5186518"/>
            <a:ext cx="16459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403C046-E3AE-4689-174A-396C70F61E38}"/>
              </a:ext>
            </a:extLst>
          </p:cNvPr>
          <p:cNvSpPr/>
          <p:nvPr/>
        </p:nvSpPr>
        <p:spPr>
          <a:xfrm>
            <a:off x="897685" y="5460838"/>
            <a:ext cx="512064" cy="51206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48A328-0EB1-D98F-D379-08EFDB73A142}"/>
              </a:ext>
            </a:extLst>
          </p:cNvPr>
          <p:cNvSpPr txBox="1"/>
          <p:nvPr/>
        </p:nvSpPr>
        <p:spPr>
          <a:xfrm>
            <a:off x="897685" y="5524846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8A9D78-3B7B-8A91-7264-D98DD25C119E}"/>
              </a:ext>
            </a:extLst>
          </p:cNvPr>
          <p:cNvSpPr txBox="1"/>
          <p:nvPr/>
        </p:nvSpPr>
        <p:spPr>
          <a:xfrm>
            <a:off x="1492045" y="5387686"/>
            <a:ext cx="470227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Solution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The system extracts core concepts and evaluates mind maps using semantic matching and hybrid scoring.</a:t>
            </a:r>
          </a:p>
        </p:txBody>
      </p:sp>
    </p:spTree>
    <p:extLst>
      <p:ext uri="{BB962C8B-B14F-4D97-AF65-F5344CB8AC3E}">
        <p14:creationId xmlns:p14="http://schemas.microsoft.com/office/powerpoint/2010/main" val="405957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9D259-0B46-D99C-EF55-07F7883B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5C941EA-EE5A-3489-0933-5530FC4D1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570B2E-E637-96AC-D0FC-EE82B05CF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noProof="0" dirty="0"/>
              <a:t>Demo</a:t>
            </a:r>
            <a:endParaRPr lang="en-US" sz="5400" noProof="0" dirty="0"/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29259BB5-30A2-F494-5C1B-B4E9C0C0C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050" name="Picture 2" descr="Demo - Free computer icons">
            <a:extLst>
              <a:ext uri="{FF2B5EF4-FFF2-40B4-BE49-F238E27FC236}">
                <a16:creationId xmlns:a16="http://schemas.microsoft.com/office/drawing/2014/main" id="{E361577F-3100-5C06-B815-B39861AA1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93" y="1672954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3">
            <a:extLst>
              <a:ext uri="{FF2B5EF4-FFF2-40B4-BE49-F238E27FC236}">
                <a16:creationId xmlns:a16="http://schemas.microsoft.com/office/drawing/2014/main" id="{AFFB46E1-AED1-9948-D9A3-16E40A529C18}"/>
              </a:ext>
            </a:extLst>
          </p:cNvPr>
          <p:cNvSpPr/>
          <p:nvPr/>
        </p:nvSpPr>
        <p:spPr>
          <a:xfrm>
            <a:off x="6575342" y="1986121"/>
            <a:ext cx="50562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1FD3736-8CDB-2E57-F350-85E769DB1043}"/>
              </a:ext>
            </a:extLst>
          </p:cNvPr>
          <p:cNvSpPr/>
          <p:nvPr/>
        </p:nvSpPr>
        <p:spPr>
          <a:xfrm>
            <a:off x="6575342" y="1986121"/>
            <a:ext cx="16459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9C602CA-451B-72FF-569D-4A80E45BE774}"/>
              </a:ext>
            </a:extLst>
          </p:cNvPr>
          <p:cNvSpPr/>
          <p:nvPr/>
        </p:nvSpPr>
        <p:spPr>
          <a:xfrm>
            <a:off x="6895382" y="2260441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2E96CF-FA66-2EC6-0841-BCCB79F34E1B}"/>
              </a:ext>
            </a:extLst>
          </p:cNvPr>
          <p:cNvSpPr txBox="1"/>
          <p:nvPr/>
        </p:nvSpPr>
        <p:spPr>
          <a:xfrm>
            <a:off x="6895382" y="2324449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⬆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FEEC5E-BF8B-2BD4-9048-4C8B373F67D6}"/>
              </a:ext>
            </a:extLst>
          </p:cNvPr>
          <p:cNvSpPr txBox="1"/>
          <p:nvPr/>
        </p:nvSpPr>
        <p:spPr>
          <a:xfrm>
            <a:off x="7489742" y="2187289"/>
            <a:ext cx="396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Upload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A document is added and processed in the backend.</a:t>
            </a: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D0923DB6-7F06-3540-6076-730D8AA36AA3}"/>
              </a:ext>
            </a:extLst>
          </p:cNvPr>
          <p:cNvSpPr/>
          <p:nvPr/>
        </p:nvSpPr>
        <p:spPr>
          <a:xfrm>
            <a:off x="5965742" y="3586321"/>
            <a:ext cx="50562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940199-0196-F621-BCCF-69DE6210C651}"/>
              </a:ext>
            </a:extLst>
          </p:cNvPr>
          <p:cNvSpPr/>
          <p:nvPr/>
        </p:nvSpPr>
        <p:spPr>
          <a:xfrm>
            <a:off x="5965742" y="3586321"/>
            <a:ext cx="16459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79996C1-0786-1EE2-0132-1CB09212D624}"/>
              </a:ext>
            </a:extLst>
          </p:cNvPr>
          <p:cNvSpPr/>
          <p:nvPr/>
        </p:nvSpPr>
        <p:spPr>
          <a:xfrm>
            <a:off x="6285782" y="3860641"/>
            <a:ext cx="512064" cy="51206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AB5CFB-7FEB-ED30-6BD6-65B8A1A7C09B}"/>
              </a:ext>
            </a:extLst>
          </p:cNvPr>
          <p:cNvSpPr txBox="1"/>
          <p:nvPr/>
        </p:nvSpPr>
        <p:spPr>
          <a:xfrm>
            <a:off x="6285782" y="3924649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C550F4FB-7947-F381-8D65-7E78196D2A1F}"/>
              </a:ext>
            </a:extLst>
          </p:cNvPr>
          <p:cNvSpPr txBox="1"/>
          <p:nvPr/>
        </p:nvSpPr>
        <p:spPr>
          <a:xfrm>
            <a:off x="6880142" y="3787489"/>
            <a:ext cx="396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Build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Users create nodes with drag-and-drop and automatic layout.</a:t>
            </a:r>
          </a:p>
        </p:txBody>
      </p:sp>
      <p:sp>
        <p:nvSpPr>
          <p:cNvPr id="2049" name="Rounded Rectangle 13">
            <a:extLst>
              <a:ext uri="{FF2B5EF4-FFF2-40B4-BE49-F238E27FC236}">
                <a16:creationId xmlns:a16="http://schemas.microsoft.com/office/drawing/2014/main" id="{7157A19B-8186-6996-BE29-09092B6B36D8}"/>
              </a:ext>
            </a:extLst>
          </p:cNvPr>
          <p:cNvSpPr/>
          <p:nvPr/>
        </p:nvSpPr>
        <p:spPr>
          <a:xfrm>
            <a:off x="5238154" y="5186521"/>
            <a:ext cx="50562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51" name="Rectangle 2050">
            <a:extLst>
              <a:ext uri="{FF2B5EF4-FFF2-40B4-BE49-F238E27FC236}">
                <a16:creationId xmlns:a16="http://schemas.microsoft.com/office/drawing/2014/main" id="{644D0C20-7A4B-4B58-9795-8755F02C0A05}"/>
              </a:ext>
            </a:extLst>
          </p:cNvPr>
          <p:cNvSpPr/>
          <p:nvPr/>
        </p:nvSpPr>
        <p:spPr>
          <a:xfrm>
            <a:off x="5238154" y="5186521"/>
            <a:ext cx="164592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52" name="Oval 2051">
            <a:extLst>
              <a:ext uri="{FF2B5EF4-FFF2-40B4-BE49-F238E27FC236}">
                <a16:creationId xmlns:a16="http://schemas.microsoft.com/office/drawing/2014/main" id="{0F4FB926-6C71-44B5-7F5E-C276C11D82E9}"/>
              </a:ext>
            </a:extLst>
          </p:cNvPr>
          <p:cNvSpPr/>
          <p:nvPr/>
        </p:nvSpPr>
        <p:spPr>
          <a:xfrm>
            <a:off x="5558194" y="5460841"/>
            <a:ext cx="512064" cy="51206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53" name="TextBox 2052">
            <a:extLst>
              <a:ext uri="{FF2B5EF4-FFF2-40B4-BE49-F238E27FC236}">
                <a16:creationId xmlns:a16="http://schemas.microsoft.com/office/drawing/2014/main" id="{77D99328-E434-3AA6-5635-648C186F8C4E}"/>
              </a:ext>
            </a:extLst>
          </p:cNvPr>
          <p:cNvSpPr txBox="1"/>
          <p:nvPr/>
        </p:nvSpPr>
        <p:spPr>
          <a:xfrm>
            <a:off x="5558194" y="5524849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CA9A7866-077A-1326-F1EB-9667F4418D15}"/>
              </a:ext>
            </a:extLst>
          </p:cNvPr>
          <p:cNvSpPr txBox="1"/>
          <p:nvPr/>
        </p:nvSpPr>
        <p:spPr>
          <a:xfrm>
            <a:off x="6152554" y="5387689"/>
            <a:ext cx="396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Evaluate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The platform returns matched topics, score, and feedback.</a:t>
            </a:r>
          </a:p>
        </p:txBody>
      </p:sp>
    </p:spTree>
    <p:extLst>
      <p:ext uri="{BB962C8B-B14F-4D97-AF65-F5344CB8AC3E}">
        <p14:creationId xmlns:p14="http://schemas.microsoft.com/office/powerpoint/2010/main" val="2864132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D936C5-DC5C-53BD-2B2E-3809DFEA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B089B66C-704D-0E03-696F-5A2081AD7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6305E-F67D-2626-FFAF-2BCE6BF4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noProof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Technical Implementation</a:t>
            </a:r>
            <a:endParaRPr lang="en-US" sz="5400" noProof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21BABDDE-1D65-FB1B-75B7-D841D0BA2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3FBBC-5530-A1C3-4971-12A97C38E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073" y="2003062"/>
            <a:ext cx="5996940" cy="3997960"/>
          </a:xfrm>
          <a:prstGeom prst="rect">
            <a:avLst/>
          </a:prstGeom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837B00E-BA56-2AC2-3631-B67CB367148E}"/>
              </a:ext>
            </a:extLst>
          </p:cNvPr>
          <p:cNvSpPr/>
          <p:nvPr/>
        </p:nvSpPr>
        <p:spPr>
          <a:xfrm>
            <a:off x="594360" y="1859280"/>
            <a:ext cx="4401774" cy="4328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D69591-9E02-F5FA-7660-959406DF5F3D}"/>
              </a:ext>
            </a:extLst>
          </p:cNvPr>
          <p:cNvSpPr/>
          <p:nvPr/>
        </p:nvSpPr>
        <p:spPr>
          <a:xfrm>
            <a:off x="594360" y="1859280"/>
            <a:ext cx="164592" cy="4328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D95D87-7D55-425E-D3C3-FBD1EB54DA35}"/>
              </a:ext>
            </a:extLst>
          </p:cNvPr>
          <p:cNvSpPr/>
          <p:nvPr/>
        </p:nvSpPr>
        <p:spPr>
          <a:xfrm>
            <a:off x="914400" y="2133600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72324-CEB5-6CEF-9882-F23EB8B1B862}"/>
              </a:ext>
            </a:extLst>
          </p:cNvPr>
          <p:cNvSpPr txBox="1"/>
          <p:nvPr/>
        </p:nvSpPr>
        <p:spPr>
          <a:xfrm>
            <a:off x="914400" y="2197608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D67F9-363D-B390-DE79-FB102095AC65}"/>
              </a:ext>
            </a:extLst>
          </p:cNvPr>
          <p:cNvSpPr txBox="1"/>
          <p:nvPr/>
        </p:nvSpPr>
        <p:spPr>
          <a:xfrm>
            <a:off x="1508761" y="2060448"/>
            <a:ext cx="270764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Stack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React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TypeScript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Vite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 err="1"/>
              <a:t>ReactFlow</a:t>
            </a:r>
            <a:endParaRPr lang="en-US" noProof="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 err="1"/>
              <a:t>Zustand</a:t>
            </a:r>
            <a:endParaRPr lang="en-US" noProof="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ELK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 err="1"/>
              <a:t>FastAPI</a:t>
            </a:r>
            <a:endParaRPr lang="en-US" noProof="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PostgreSQL + </a:t>
            </a:r>
            <a:r>
              <a:rPr lang="en-US" noProof="0" dirty="0" err="1"/>
              <a:t>pgvector</a:t>
            </a:r>
            <a:endParaRPr lang="en-US" noProof="0" dirty="0"/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Ollama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  <a:defRPr sz="1500">
                <a:solidFill>
                  <a:srgbClr val="475569"/>
                </a:solidFill>
              </a:defRPr>
            </a:pPr>
            <a:r>
              <a:rPr lang="en-US" noProof="0" dirty="0" err="1"/>
              <a:t>Unsloth</a:t>
            </a:r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0265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C6C5A-6CA7-67D3-9D93-B7F37EBFD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F2625AD6-C26D-B1D5-B2FC-119EFC18D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C52FC-68EC-0572-14E6-6652D3311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noProof="0" dirty="0"/>
              <a:t>Challenges &amp; Solution</a:t>
            </a:r>
            <a:endParaRPr lang="en-US" sz="5400" noProof="0" dirty="0"/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D8AB8A02-A20A-07C7-0ED4-AC0A6155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58A721-446F-C13C-A001-0CAF22F63924}"/>
              </a:ext>
            </a:extLst>
          </p:cNvPr>
          <p:cNvSpPr/>
          <p:nvPr/>
        </p:nvSpPr>
        <p:spPr>
          <a:xfrm>
            <a:off x="577644" y="1986118"/>
            <a:ext cx="6826045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122D4-47E1-E195-3B3C-A1ECF0C5D0EC}"/>
              </a:ext>
            </a:extLst>
          </p:cNvPr>
          <p:cNvSpPr/>
          <p:nvPr/>
        </p:nvSpPr>
        <p:spPr>
          <a:xfrm>
            <a:off x="577645" y="1986118"/>
            <a:ext cx="164592" cy="12344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90C367-58B6-101D-912C-51C939B4DE51}"/>
              </a:ext>
            </a:extLst>
          </p:cNvPr>
          <p:cNvSpPr/>
          <p:nvPr/>
        </p:nvSpPr>
        <p:spPr>
          <a:xfrm>
            <a:off x="897685" y="2260438"/>
            <a:ext cx="512064" cy="5120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5D937-345C-BA52-2DC2-16D8B6F74137}"/>
              </a:ext>
            </a:extLst>
          </p:cNvPr>
          <p:cNvSpPr txBox="1"/>
          <p:nvPr/>
        </p:nvSpPr>
        <p:spPr>
          <a:xfrm>
            <a:off x="897685" y="2324446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E4830-1E9B-0DE1-3A4B-9489410B54A1}"/>
              </a:ext>
            </a:extLst>
          </p:cNvPr>
          <p:cNvSpPr txBox="1"/>
          <p:nvPr/>
        </p:nvSpPr>
        <p:spPr>
          <a:xfrm>
            <a:off x="1492044" y="2187286"/>
            <a:ext cx="574449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Long Context Errors</a:t>
            </a:r>
            <a:endParaRPr lang="en-US" sz="1800" b="1" noProof="0" dirty="0">
              <a:solidFill>
                <a:srgbClr val="0F172A"/>
              </a:solidFill>
            </a:endParaRP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sz="1500" noProof="0" dirty="0">
                <a:solidFill>
                  <a:srgbClr val="00B050"/>
                </a:solidFill>
              </a:rPr>
              <a:t>Retrieval-Augmented Generation (RAG) implemented for fetching only relevant information, not the entire document.</a:t>
            </a:r>
            <a:endParaRPr lang="en-US" noProof="0" dirty="0">
              <a:solidFill>
                <a:srgbClr val="00B05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0DCD01E-ABBD-F1F8-D01A-4C8FB0BE049A}"/>
              </a:ext>
            </a:extLst>
          </p:cNvPr>
          <p:cNvSpPr/>
          <p:nvPr/>
        </p:nvSpPr>
        <p:spPr>
          <a:xfrm>
            <a:off x="4972678" y="3586318"/>
            <a:ext cx="644257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A7571-95C0-7D56-BA8C-490F40FB094B}"/>
              </a:ext>
            </a:extLst>
          </p:cNvPr>
          <p:cNvSpPr/>
          <p:nvPr/>
        </p:nvSpPr>
        <p:spPr>
          <a:xfrm>
            <a:off x="4972678" y="3586318"/>
            <a:ext cx="164592" cy="12344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887799-3A93-229E-C350-B7A041FD0AC9}"/>
              </a:ext>
            </a:extLst>
          </p:cNvPr>
          <p:cNvSpPr/>
          <p:nvPr/>
        </p:nvSpPr>
        <p:spPr>
          <a:xfrm>
            <a:off x="5292718" y="3860638"/>
            <a:ext cx="512064" cy="5120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0E52B5-FE61-5007-151C-8612E8385888}"/>
              </a:ext>
            </a:extLst>
          </p:cNvPr>
          <p:cNvSpPr txBox="1"/>
          <p:nvPr/>
        </p:nvSpPr>
        <p:spPr>
          <a:xfrm>
            <a:off x="5357031" y="3924646"/>
            <a:ext cx="38343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b="1" noProof="0" dirty="0">
                <a:solidFill>
                  <a:srgbClr val="FFFFFF"/>
                </a:solidFill>
              </a:rPr>
              <a:t>⚠</a:t>
            </a:r>
          </a:p>
          <a:p>
            <a:pPr algn="ctr"/>
            <a:endParaRPr lang="en-US" sz="1800" b="1" noProof="0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4DB261-0A14-0D8F-7ECD-642FBA31C779}"/>
              </a:ext>
            </a:extLst>
          </p:cNvPr>
          <p:cNvSpPr txBox="1"/>
          <p:nvPr/>
        </p:nvSpPr>
        <p:spPr>
          <a:xfrm>
            <a:off x="5887077" y="3787486"/>
            <a:ext cx="53610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/>
              <a:t>Topic Ambiguity</a:t>
            </a:r>
          </a:p>
          <a:p>
            <a:r>
              <a:rPr lang="en-US" noProof="0" dirty="0">
                <a:solidFill>
                  <a:srgbClr val="00B050"/>
                </a:solidFill>
              </a:rPr>
              <a:t>Implemented semantic matching using Sentence-Transformers and cosine similarity.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3187AB3-6E7D-ADC5-8262-99127BDE4A47}"/>
              </a:ext>
            </a:extLst>
          </p:cNvPr>
          <p:cNvSpPr/>
          <p:nvPr/>
        </p:nvSpPr>
        <p:spPr>
          <a:xfrm>
            <a:off x="577645" y="5186518"/>
            <a:ext cx="6826044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B70A73-E2EA-9888-028A-BCDCD51E567C}"/>
              </a:ext>
            </a:extLst>
          </p:cNvPr>
          <p:cNvSpPr/>
          <p:nvPr/>
        </p:nvSpPr>
        <p:spPr>
          <a:xfrm>
            <a:off x="577645" y="5186518"/>
            <a:ext cx="164592" cy="12344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1DB513C-33ED-D58D-D224-D892AAF396F2}"/>
              </a:ext>
            </a:extLst>
          </p:cNvPr>
          <p:cNvSpPr/>
          <p:nvPr/>
        </p:nvSpPr>
        <p:spPr>
          <a:xfrm>
            <a:off x="897685" y="5460838"/>
            <a:ext cx="512064" cy="51206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03F858-5A50-1306-31E9-8A3C449740E1}"/>
              </a:ext>
            </a:extLst>
          </p:cNvPr>
          <p:cNvSpPr txBox="1"/>
          <p:nvPr/>
        </p:nvSpPr>
        <p:spPr>
          <a:xfrm>
            <a:off x="961998" y="5524846"/>
            <a:ext cx="38343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b="1" noProof="0" dirty="0">
                <a:solidFill>
                  <a:srgbClr val="FFFFFF"/>
                </a:solidFill>
              </a:rPr>
              <a:t>⚠</a:t>
            </a:r>
          </a:p>
          <a:p>
            <a:pPr algn="ctr"/>
            <a:endParaRPr lang="en-US" sz="1800" b="1" noProof="0" dirty="0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CA54AB-03C2-F39C-F122-94FA3D0CC1DD}"/>
              </a:ext>
            </a:extLst>
          </p:cNvPr>
          <p:cNvSpPr txBox="1"/>
          <p:nvPr/>
        </p:nvSpPr>
        <p:spPr>
          <a:xfrm>
            <a:off x="1492044" y="5387686"/>
            <a:ext cx="5744497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noProof="0" dirty="0" err="1"/>
              <a:t>Colab</a:t>
            </a:r>
            <a:r>
              <a:rPr lang="en-US" b="1" noProof="0" dirty="0"/>
              <a:t> Timeouts</a:t>
            </a:r>
            <a:endParaRPr lang="en-US" sz="1800" b="1" noProof="0" dirty="0">
              <a:solidFill>
                <a:srgbClr val="0F172A"/>
              </a:solidFill>
            </a:endParaRP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sz="1500" noProof="0" dirty="0">
                <a:solidFill>
                  <a:srgbClr val="00B050"/>
                </a:solidFill>
              </a:rPr>
              <a:t>Implemented  checkpoint saving system to resume training across sessions.</a:t>
            </a:r>
            <a:endParaRPr lang="en-US" noProof="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60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683CE-E922-8FD5-0613-9324A548F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B6C7E09C-2D6E-B0B3-9DB9-5E95AEDE4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C72E10-F00B-819F-CE39-ABD3BB06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Impact &amp; Future Scope</a:t>
            </a:r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D51A41CF-FF98-69D7-37E5-404287841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611EDC42-EC1A-9E4A-E523-DDEADB1A13AA}"/>
              </a:ext>
            </a:extLst>
          </p:cNvPr>
          <p:cNvSpPr/>
          <p:nvPr/>
        </p:nvSpPr>
        <p:spPr>
          <a:xfrm>
            <a:off x="607144" y="1852987"/>
            <a:ext cx="4780933" cy="7187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76285D-9A94-601E-DBE7-95827B9606A2}"/>
              </a:ext>
            </a:extLst>
          </p:cNvPr>
          <p:cNvSpPr/>
          <p:nvPr/>
        </p:nvSpPr>
        <p:spPr>
          <a:xfrm>
            <a:off x="607144" y="1852987"/>
            <a:ext cx="164592" cy="7187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994660-DD1A-2DA8-488B-4D4C60D89B2F}"/>
              </a:ext>
            </a:extLst>
          </p:cNvPr>
          <p:cNvSpPr/>
          <p:nvPr/>
        </p:nvSpPr>
        <p:spPr>
          <a:xfrm>
            <a:off x="927184" y="1926139"/>
            <a:ext cx="512064" cy="51206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1F4F1D-BA35-E06A-79AE-734982AAD19A}"/>
              </a:ext>
            </a:extLst>
          </p:cNvPr>
          <p:cNvSpPr txBox="1"/>
          <p:nvPr/>
        </p:nvSpPr>
        <p:spPr>
          <a:xfrm>
            <a:off x="1037182" y="1990147"/>
            <a:ext cx="2920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?</a:t>
            </a:r>
            <a:endParaRPr lang="en-US" sz="1800" b="1" noProof="0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3B22B3-B99C-7BB8-FDD4-79DB53E68AEE}"/>
              </a:ext>
            </a:extLst>
          </p:cNvPr>
          <p:cNvSpPr txBox="1"/>
          <p:nvPr/>
        </p:nvSpPr>
        <p:spPr>
          <a:xfrm>
            <a:off x="1532044" y="2019268"/>
            <a:ext cx="375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Who benefits?</a:t>
            </a:r>
            <a:endParaRPr lang="en-US" noProof="0" dirty="0"/>
          </a:p>
        </p:txBody>
      </p:sp>
      <p:pic>
        <p:nvPicPr>
          <p:cNvPr id="3074" name="Picture 2" descr="Student - Free user icons">
            <a:extLst>
              <a:ext uri="{FF2B5EF4-FFF2-40B4-BE49-F238E27FC236}">
                <a16:creationId xmlns:a16="http://schemas.microsoft.com/office/drawing/2014/main" id="{FA103B13-5C48-CA8E-A3B1-FDD75B8D5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8161" y="2490056"/>
            <a:ext cx="1060096" cy="106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ounded Rectangle 3">
            <a:extLst>
              <a:ext uri="{FF2B5EF4-FFF2-40B4-BE49-F238E27FC236}">
                <a16:creationId xmlns:a16="http://schemas.microsoft.com/office/drawing/2014/main" id="{4725C976-8D45-1FC9-7E9F-42EEF68BC9F8}"/>
              </a:ext>
            </a:extLst>
          </p:cNvPr>
          <p:cNvSpPr/>
          <p:nvPr/>
        </p:nvSpPr>
        <p:spPr>
          <a:xfrm>
            <a:off x="661223" y="4719096"/>
            <a:ext cx="4780933" cy="7187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02E565-4A73-2378-AF3E-250335596C90}"/>
              </a:ext>
            </a:extLst>
          </p:cNvPr>
          <p:cNvSpPr/>
          <p:nvPr/>
        </p:nvSpPr>
        <p:spPr>
          <a:xfrm>
            <a:off x="661223" y="4719096"/>
            <a:ext cx="164592" cy="7187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7D5DE74-D966-D636-9FE6-9CBC60CBF217}"/>
              </a:ext>
            </a:extLst>
          </p:cNvPr>
          <p:cNvSpPr/>
          <p:nvPr/>
        </p:nvSpPr>
        <p:spPr>
          <a:xfrm>
            <a:off x="981263" y="4792248"/>
            <a:ext cx="512064" cy="51206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A7C0E7-BC1E-6F93-34F6-1DF6A1EE5635}"/>
              </a:ext>
            </a:extLst>
          </p:cNvPr>
          <p:cNvSpPr txBox="1"/>
          <p:nvPr/>
        </p:nvSpPr>
        <p:spPr>
          <a:xfrm>
            <a:off x="1091261" y="4856256"/>
            <a:ext cx="2920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?</a:t>
            </a:r>
            <a:endParaRPr lang="en-US" sz="1800" b="1" noProof="0" dirty="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721070-7CE4-4462-F16F-E6B4B338ABF2}"/>
              </a:ext>
            </a:extLst>
          </p:cNvPr>
          <p:cNvSpPr txBox="1"/>
          <p:nvPr/>
        </p:nvSpPr>
        <p:spPr>
          <a:xfrm>
            <a:off x="1575623" y="4897421"/>
            <a:ext cx="371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</a:rPr>
              <a:t>Applications?</a:t>
            </a:r>
            <a:endParaRPr lang="en-US" noProof="0" dirty="0"/>
          </a:p>
        </p:txBody>
      </p:sp>
      <p:sp>
        <p:nvSpPr>
          <p:cNvPr id="1031" name="Rounded Rectangle 13">
            <a:extLst>
              <a:ext uri="{FF2B5EF4-FFF2-40B4-BE49-F238E27FC236}">
                <a16:creationId xmlns:a16="http://schemas.microsoft.com/office/drawing/2014/main" id="{E73FED4F-11F3-60B3-AD32-18EF23C46F71}"/>
              </a:ext>
            </a:extLst>
          </p:cNvPr>
          <p:cNvSpPr/>
          <p:nvPr/>
        </p:nvSpPr>
        <p:spPr>
          <a:xfrm>
            <a:off x="6206637" y="3559278"/>
            <a:ext cx="5292211" cy="79240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9421C6E2-A7F5-E22C-0712-CA34839F068A}"/>
              </a:ext>
            </a:extLst>
          </p:cNvPr>
          <p:cNvSpPr/>
          <p:nvPr/>
        </p:nvSpPr>
        <p:spPr>
          <a:xfrm>
            <a:off x="6206637" y="3559278"/>
            <a:ext cx="164592" cy="792407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1D5BD407-1198-3B30-D287-69D3154422E6}"/>
              </a:ext>
            </a:extLst>
          </p:cNvPr>
          <p:cNvSpPr/>
          <p:nvPr/>
        </p:nvSpPr>
        <p:spPr>
          <a:xfrm>
            <a:off x="6526677" y="3686111"/>
            <a:ext cx="512064" cy="51206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62BE6741-8D59-F665-68CB-CAD0BD7DA6B6}"/>
              </a:ext>
            </a:extLst>
          </p:cNvPr>
          <p:cNvSpPr txBox="1"/>
          <p:nvPr/>
        </p:nvSpPr>
        <p:spPr>
          <a:xfrm>
            <a:off x="6526677" y="3750119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↗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434C83C6-154E-3563-335F-6A68A6D89EF2}"/>
              </a:ext>
            </a:extLst>
          </p:cNvPr>
          <p:cNvSpPr txBox="1"/>
          <p:nvPr/>
        </p:nvSpPr>
        <p:spPr>
          <a:xfrm>
            <a:off x="7194189" y="3700466"/>
            <a:ext cx="40631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Students get fast feedback and teachers get scalable assessment.</a:t>
            </a:r>
            <a:endParaRPr lang="en-US" sz="1600" noProof="0" dirty="0"/>
          </a:p>
        </p:txBody>
      </p:sp>
      <p:sp>
        <p:nvSpPr>
          <p:cNvPr id="1038" name="Rounded Rectangle 13">
            <a:extLst>
              <a:ext uri="{FF2B5EF4-FFF2-40B4-BE49-F238E27FC236}">
                <a16:creationId xmlns:a16="http://schemas.microsoft.com/office/drawing/2014/main" id="{1146AF77-7017-2C0B-5014-1B17D92FA4B7}"/>
              </a:ext>
            </a:extLst>
          </p:cNvPr>
          <p:cNvSpPr/>
          <p:nvPr/>
        </p:nvSpPr>
        <p:spPr>
          <a:xfrm>
            <a:off x="6221384" y="5638804"/>
            <a:ext cx="5292211" cy="79240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92285101-1639-3769-169A-823A66412A0A}"/>
              </a:ext>
            </a:extLst>
          </p:cNvPr>
          <p:cNvSpPr/>
          <p:nvPr/>
        </p:nvSpPr>
        <p:spPr>
          <a:xfrm>
            <a:off x="6221384" y="5638804"/>
            <a:ext cx="164592" cy="792407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40" name="Oval 1039">
            <a:extLst>
              <a:ext uri="{FF2B5EF4-FFF2-40B4-BE49-F238E27FC236}">
                <a16:creationId xmlns:a16="http://schemas.microsoft.com/office/drawing/2014/main" id="{26E23E18-8FF9-286A-E63A-888F18AF9DE8}"/>
              </a:ext>
            </a:extLst>
          </p:cNvPr>
          <p:cNvSpPr/>
          <p:nvPr/>
        </p:nvSpPr>
        <p:spPr>
          <a:xfrm>
            <a:off x="6541424" y="5765637"/>
            <a:ext cx="512064" cy="51206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29EE9DAA-23D3-BBC3-1B72-965F6156F20E}"/>
              </a:ext>
            </a:extLst>
          </p:cNvPr>
          <p:cNvSpPr txBox="1"/>
          <p:nvPr/>
        </p:nvSpPr>
        <p:spPr>
          <a:xfrm>
            <a:off x="6541424" y="5829645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↗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4755486-4687-FBD8-8E50-9867932D1CC2}"/>
              </a:ext>
            </a:extLst>
          </p:cNvPr>
          <p:cNvSpPr txBox="1"/>
          <p:nvPr/>
        </p:nvSpPr>
        <p:spPr>
          <a:xfrm>
            <a:off x="7208936" y="5779992"/>
            <a:ext cx="40631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Integrate with digital education systems (e.g.: PLUSSA).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417837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BE66E-16D8-E3E4-D2D7-05276268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414F00F-7A4B-7DD7-A95A-25DDBE9E3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C6674-3763-3DBE-3F50-7D4523F7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Impact &amp; Future Scope</a:t>
            </a:r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9C445BBA-A6F5-C121-9D59-84D24489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3CB1D9E2-36A2-AE05-7682-BA51AA941698}"/>
              </a:ext>
            </a:extLst>
          </p:cNvPr>
          <p:cNvSpPr/>
          <p:nvPr/>
        </p:nvSpPr>
        <p:spPr>
          <a:xfrm>
            <a:off x="607144" y="1852987"/>
            <a:ext cx="4780933" cy="7187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CCFB31-AEE5-717C-B0D9-3C5539EBAF62}"/>
              </a:ext>
            </a:extLst>
          </p:cNvPr>
          <p:cNvSpPr/>
          <p:nvPr/>
        </p:nvSpPr>
        <p:spPr>
          <a:xfrm>
            <a:off x="607144" y="1852987"/>
            <a:ext cx="164592" cy="7187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C13A74-27FD-751E-58BB-FC0C70B4171C}"/>
              </a:ext>
            </a:extLst>
          </p:cNvPr>
          <p:cNvSpPr/>
          <p:nvPr/>
        </p:nvSpPr>
        <p:spPr>
          <a:xfrm>
            <a:off x="927184" y="1926139"/>
            <a:ext cx="512064" cy="51206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AC750-7CE5-1ED8-0D38-69EA816CE0D4}"/>
              </a:ext>
            </a:extLst>
          </p:cNvPr>
          <p:cNvSpPr txBox="1"/>
          <p:nvPr/>
        </p:nvSpPr>
        <p:spPr>
          <a:xfrm>
            <a:off x="1037182" y="1990147"/>
            <a:ext cx="29206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?</a:t>
            </a:r>
            <a:endParaRPr lang="en-US" sz="1800" b="1" noProof="0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D0F19E-1933-BAC1-BC05-F60B04C07050}"/>
              </a:ext>
            </a:extLst>
          </p:cNvPr>
          <p:cNvSpPr txBox="1"/>
          <p:nvPr/>
        </p:nvSpPr>
        <p:spPr>
          <a:xfrm>
            <a:off x="1532044" y="2019268"/>
            <a:ext cx="375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172A"/>
                </a:solidFill>
              </a:rPr>
              <a:t>Next steps</a:t>
            </a:r>
            <a:r>
              <a:rPr lang="en-US" sz="1800" b="1" noProof="0" dirty="0">
                <a:solidFill>
                  <a:srgbClr val="0F172A"/>
                </a:solidFill>
              </a:rPr>
              <a:t>?</a:t>
            </a:r>
            <a:endParaRPr lang="en-US" noProof="0" dirty="0"/>
          </a:p>
        </p:txBody>
      </p:sp>
      <p:sp>
        <p:nvSpPr>
          <p:cNvPr id="1031" name="Rounded Rectangle 13">
            <a:extLst>
              <a:ext uri="{FF2B5EF4-FFF2-40B4-BE49-F238E27FC236}">
                <a16:creationId xmlns:a16="http://schemas.microsoft.com/office/drawing/2014/main" id="{C909AA4E-7355-5A83-FDE5-0BE16EE5635A}"/>
              </a:ext>
            </a:extLst>
          </p:cNvPr>
          <p:cNvSpPr/>
          <p:nvPr/>
        </p:nvSpPr>
        <p:spPr>
          <a:xfrm>
            <a:off x="6206637" y="2792360"/>
            <a:ext cx="5292211" cy="1554875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6F5FCA3A-AA18-786F-3F63-1E0A7E4CE683}"/>
              </a:ext>
            </a:extLst>
          </p:cNvPr>
          <p:cNvSpPr/>
          <p:nvPr/>
        </p:nvSpPr>
        <p:spPr>
          <a:xfrm>
            <a:off x="6206637" y="2792360"/>
            <a:ext cx="164592" cy="155487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EF2FB3C2-15CD-80F2-4DE7-66164E9A58A6}"/>
              </a:ext>
            </a:extLst>
          </p:cNvPr>
          <p:cNvSpPr/>
          <p:nvPr/>
        </p:nvSpPr>
        <p:spPr>
          <a:xfrm>
            <a:off x="6526677" y="3274424"/>
            <a:ext cx="512064" cy="51206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79C8450-7D38-A306-F330-37DB62235156}"/>
              </a:ext>
            </a:extLst>
          </p:cNvPr>
          <p:cNvSpPr txBox="1"/>
          <p:nvPr/>
        </p:nvSpPr>
        <p:spPr>
          <a:xfrm>
            <a:off x="6526677" y="3338432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↗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FDB5BCFE-9599-A182-119B-E033508FDB0E}"/>
              </a:ext>
            </a:extLst>
          </p:cNvPr>
          <p:cNvSpPr txBox="1"/>
          <p:nvPr/>
        </p:nvSpPr>
        <p:spPr>
          <a:xfrm>
            <a:off x="7194189" y="3114064"/>
            <a:ext cx="4063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semantic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Graph-aware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Continuous learning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359337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30F55-2605-4DF8-B899-51228D2C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802E4F67-5B41-B354-DC66-A895029D8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2195B-7C9E-C0FC-80AE-3E910E9C5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Conclusion &amp; Q&amp;A</a:t>
            </a:r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id="{588157FF-E442-8501-3D89-9AC8A9A3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C3752-1E18-91B6-CFFF-64BA26B8DE81}"/>
              </a:ext>
            </a:extLst>
          </p:cNvPr>
          <p:cNvSpPr/>
          <p:nvPr/>
        </p:nvSpPr>
        <p:spPr>
          <a:xfrm>
            <a:off x="656304" y="2163098"/>
            <a:ext cx="5302044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063D5B-72F5-F5D3-D14C-66AE31434865}"/>
              </a:ext>
            </a:extLst>
          </p:cNvPr>
          <p:cNvSpPr/>
          <p:nvPr/>
        </p:nvSpPr>
        <p:spPr>
          <a:xfrm>
            <a:off x="656304" y="2163098"/>
            <a:ext cx="16459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94C2E5-621C-4508-3135-BA60C397421A}"/>
              </a:ext>
            </a:extLst>
          </p:cNvPr>
          <p:cNvSpPr/>
          <p:nvPr/>
        </p:nvSpPr>
        <p:spPr>
          <a:xfrm>
            <a:off x="976344" y="2437418"/>
            <a:ext cx="512064" cy="51206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6456E-6262-8627-4DC8-4909E280B1D4}"/>
              </a:ext>
            </a:extLst>
          </p:cNvPr>
          <p:cNvSpPr txBox="1"/>
          <p:nvPr/>
        </p:nvSpPr>
        <p:spPr>
          <a:xfrm>
            <a:off x="976344" y="2501426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BE9A0-4A81-808B-CB0E-BB30D540A0C0}"/>
              </a:ext>
            </a:extLst>
          </p:cNvPr>
          <p:cNvSpPr txBox="1"/>
          <p:nvPr/>
        </p:nvSpPr>
        <p:spPr>
          <a:xfrm>
            <a:off x="1570704" y="2364266"/>
            <a:ext cx="426965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Takeaway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The project makes mind map assessment more objective and efficient.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520B95-27F5-4026-A083-226C2A533A2A}"/>
              </a:ext>
            </a:extLst>
          </p:cNvPr>
          <p:cNvSpPr/>
          <p:nvPr/>
        </p:nvSpPr>
        <p:spPr>
          <a:xfrm>
            <a:off x="6340332" y="2158526"/>
            <a:ext cx="5302044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3A1CA1-8A0D-4F72-A65C-BF6E15716D6A}"/>
              </a:ext>
            </a:extLst>
          </p:cNvPr>
          <p:cNvSpPr/>
          <p:nvPr/>
        </p:nvSpPr>
        <p:spPr>
          <a:xfrm>
            <a:off x="6340332" y="2158526"/>
            <a:ext cx="16459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208F79-41A1-5562-6840-11F9C2A26C11}"/>
              </a:ext>
            </a:extLst>
          </p:cNvPr>
          <p:cNvSpPr/>
          <p:nvPr/>
        </p:nvSpPr>
        <p:spPr>
          <a:xfrm>
            <a:off x="6660372" y="2432846"/>
            <a:ext cx="512064" cy="51206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81AA1-3673-7F0E-C0A8-7AD9D8662B06}"/>
              </a:ext>
            </a:extLst>
          </p:cNvPr>
          <p:cNvSpPr txBox="1"/>
          <p:nvPr/>
        </p:nvSpPr>
        <p:spPr>
          <a:xfrm>
            <a:off x="6660372" y="2496854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◎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3A4DCA-1269-F1D7-A478-1BB93C0C203D}"/>
              </a:ext>
            </a:extLst>
          </p:cNvPr>
          <p:cNvSpPr txBox="1"/>
          <p:nvPr/>
        </p:nvSpPr>
        <p:spPr>
          <a:xfrm>
            <a:off x="7254732" y="2359694"/>
            <a:ext cx="426965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0F172A"/>
                </a:solidFill>
              </a:rPr>
              <a:t>Why it matters</a:t>
            </a:r>
          </a:p>
          <a:p>
            <a:pPr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It combines RAG, fine-tuning, and hybrid scoring into one practical platform.</a:t>
            </a: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6F017920-4368-FA8A-8A04-47E00ED51472}"/>
              </a:ext>
            </a:extLst>
          </p:cNvPr>
          <p:cNvSpPr/>
          <p:nvPr/>
        </p:nvSpPr>
        <p:spPr>
          <a:xfrm>
            <a:off x="644013" y="3888757"/>
            <a:ext cx="10881360" cy="263140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FF3B4E-0497-AF62-E526-AC79984A6A28}"/>
              </a:ext>
            </a:extLst>
          </p:cNvPr>
          <p:cNvSpPr/>
          <p:nvPr/>
        </p:nvSpPr>
        <p:spPr>
          <a:xfrm>
            <a:off x="644013" y="3888757"/>
            <a:ext cx="164592" cy="263140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92E8FF2-F61F-7833-A08C-C578DBA18269}"/>
              </a:ext>
            </a:extLst>
          </p:cNvPr>
          <p:cNvSpPr/>
          <p:nvPr/>
        </p:nvSpPr>
        <p:spPr>
          <a:xfrm>
            <a:off x="5828268" y="4245285"/>
            <a:ext cx="512064" cy="51206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E7A80B-64FC-151B-AEBA-3145067FBC88}"/>
              </a:ext>
            </a:extLst>
          </p:cNvPr>
          <p:cNvSpPr txBox="1"/>
          <p:nvPr/>
        </p:nvSpPr>
        <p:spPr>
          <a:xfrm>
            <a:off x="5828268" y="4309293"/>
            <a:ext cx="51206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D81583-D6CC-AC31-D19F-6AD25048A2B0}"/>
              </a:ext>
            </a:extLst>
          </p:cNvPr>
          <p:cNvSpPr txBox="1"/>
          <p:nvPr/>
        </p:nvSpPr>
        <p:spPr>
          <a:xfrm>
            <a:off x="1232376" y="5113876"/>
            <a:ext cx="978408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noProof="0" dirty="0">
                <a:solidFill>
                  <a:srgbClr val="0F172A"/>
                </a:solidFill>
              </a:rPr>
              <a:t>Q&amp;A</a:t>
            </a:r>
          </a:p>
          <a:p>
            <a:pPr algn="ctr">
              <a:spcBef>
                <a:spcPts val="600"/>
              </a:spcBef>
              <a:defRPr sz="1500">
                <a:solidFill>
                  <a:srgbClr val="475569"/>
                </a:solidFill>
              </a:defRPr>
            </a:pPr>
            <a:r>
              <a:rPr lang="en-US" noProof="0" dirty="0"/>
              <a:t>Open for questions.</a:t>
            </a:r>
          </a:p>
        </p:txBody>
      </p:sp>
      <p:pic>
        <p:nvPicPr>
          <p:cNvPr id="4102" name="Picture 6" descr="Question mark - Free shapes and symbols icons">
            <a:extLst>
              <a:ext uri="{FF2B5EF4-FFF2-40B4-BE49-F238E27FC236}">
                <a16:creationId xmlns:a16="http://schemas.microsoft.com/office/drawing/2014/main" id="{C52E5D00-2E56-E1E6-2B55-C07DF989D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829" y="5006360"/>
            <a:ext cx="1160206" cy="116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Question mark - Free shapes and symbols icons">
            <a:extLst>
              <a:ext uri="{FF2B5EF4-FFF2-40B4-BE49-F238E27FC236}">
                <a16:creationId xmlns:a16="http://schemas.microsoft.com/office/drawing/2014/main" id="{77D4641A-729F-E958-B619-3AD1B7B31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952" y="5006360"/>
            <a:ext cx="1160206" cy="116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Question mark - Free shapes and symbols icons">
            <a:extLst>
              <a:ext uri="{FF2B5EF4-FFF2-40B4-BE49-F238E27FC236}">
                <a16:creationId xmlns:a16="http://schemas.microsoft.com/office/drawing/2014/main" id="{E2BB7C7E-B4FE-0D67-C093-0A7EBF4EF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248" y="4088667"/>
            <a:ext cx="1160206" cy="116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Question mark - Free shapes and symbols icons">
            <a:extLst>
              <a:ext uri="{FF2B5EF4-FFF2-40B4-BE49-F238E27FC236}">
                <a16:creationId xmlns:a16="http://schemas.microsoft.com/office/drawing/2014/main" id="{C7F25AED-0652-7493-FF88-905884A40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6250" y="3965283"/>
            <a:ext cx="1160206" cy="116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60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4814fa1-1a0b-42d1-967a-caddbf829325}" enabled="1" method="Standard" siteId="{fa6944af-cc7c-4cd8-9154-c0113279891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Wingdings</vt:lpstr>
      <vt:lpstr>Office Theme</vt:lpstr>
      <vt:lpstr>PowerPoint Presentation</vt:lpstr>
      <vt:lpstr>Problem &amp; Solution</vt:lpstr>
      <vt:lpstr>Demo</vt:lpstr>
      <vt:lpstr>Technical Implementation</vt:lpstr>
      <vt:lpstr>Challenges &amp; Solution</vt:lpstr>
      <vt:lpstr>Impact &amp; Future Scope</vt:lpstr>
      <vt:lpstr>Impact &amp; Future Scope</vt:lpstr>
      <vt:lpstr>Conclusion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Samith Pantho (TAU)</cp:lastModifiedBy>
  <cp:revision>9</cp:revision>
  <dcterms:created xsi:type="dcterms:W3CDTF">2013-01-27T09:14:16Z</dcterms:created>
  <dcterms:modified xsi:type="dcterms:W3CDTF">2026-03-23T19:15:12Z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TUNI Luottamuksellinen - Confidential (3Y)</vt:lpwstr>
  </property>
</Properties>
</file>